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09C"/>
                </a:solidFill>
                <a:latin typeface="Consolas"/>
              </a:rPr>
              <a:t>JuegoEngine / Collision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B1E25"/>
                </a:solidFill>
                <a:latin typeface="Meiryo"/>
              </a:rPr>
              <a:t>当たり判定</a:t>
            </a:r>
          </a:p>
          <a:p>
            <a:pPr algn="l"/>
            <a:r>
              <a:rPr sz="4000" b="1">
                <a:solidFill>
                  <a:srgbClr val="1B1E25"/>
                </a:solidFill>
                <a:latin typeface="Meiryo"/>
              </a:rPr>
              <a:t>Collider・Shape・MeshBVH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65D6B"/>
                </a:solidFill>
                <a:latin typeface="Meiryo"/>
              </a:rPr>
              <a:t>形状は Sphere / AABB / OBB / Capsule / Mesh の5種類。どれ同士でも判定できる。</a:t>
            </a:r>
          </a:p>
          <a:p>
            <a:pPr algn="l"/>
            <a:r>
              <a:rPr sz="1200" b="0">
                <a:solidFill>
                  <a:srgbClr val="565D6B"/>
                </a:solidFill>
                <a:latin typeface="Meiryo"/>
              </a:rPr>
              <a:t>メッシュだけは三角形が数千枚あるので、BVH（AABBの木）で候補を絞ってから精密判定する。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114300" cy="114300"/>
          </a:xfrm>
          <a:prstGeom prst="roundRect">
            <a:avLst/>
          </a:prstGeom>
          <a:solidFill>
            <a:srgbClr val="E7E0F4"/>
          </a:solidFill>
          <a:ln w="12700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2300" y="4193540"/>
            <a:ext cx="117729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抽象 / インターフェイス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51990" y="4206240"/>
            <a:ext cx="114300" cy="114300"/>
          </a:xfrm>
          <a:prstGeom prst="roundRect">
            <a:avLst/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17090" y="419354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実装・実行側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7190" y="4206240"/>
            <a:ext cx="114300" cy="114300"/>
          </a:xfrm>
          <a:prstGeom prst="roundRect">
            <a:avLst/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2290" y="4193540"/>
            <a:ext cx="89154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BVH（メッシュ）側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10896"/>
            <a:ext cx="88900" cy="88900"/>
          </a:xfrm>
          <a:prstGeom prst="ellipse">
            <a:avLst/>
          </a:prstGeom>
          <a:solidFill>
            <a:srgbClr val="0E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909C"/>
                </a:solidFill>
                <a:latin typeface="Meiryo"/>
              </a:rPr>
              <a:t>クラス図 ① ── 全体構造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1E25"/>
                </a:solidFill>
                <a:latin typeface="Meiryo"/>
              </a:rPr>
              <a:t>Collider が形状を持ち、Manager が総当たりする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22960"/>
            <a:ext cx="3200400" cy="1193800"/>
          </a:xfrm>
          <a:prstGeom prst="roundRect">
            <a:avLst>
              <a:gd name="adj" fmla="val 8000"/>
            </a:avLst>
          </a:prstGeom>
          <a:solidFill>
            <a:srgbClr val="E7E0F4"/>
          </a:solidFill>
          <a:ln w="15875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513B82"/>
                </a:solidFill>
                <a:latin typeface="Consolas"/>
              </a:rPr>
              <a:t>Collider</a:t>
            </a:r>
          </a:p>
          <a:p>
            <a:r>
              <a:rPr sz="650" b="1">
                <a:solidFill>
                  <a:srgbClr val="6A4CA8"/>
                </a:solidFill>
                <a:latin typeface="Meiryo"/>
              </a:rPr>
              <a:t>abstract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GetShapes() : vector&lt;Shape&gt;&amp;  = 0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OnCollision(CollisionInfo&amp;)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ApplyPushOut(mtv)  ← 押し戻しを受ける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SetResponse(Trigger / Blocking)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SetMovable() / SetPrevCenter()  ← CCD用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8229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D7ECEE"/>
          </a:solidFill>
          <a:ln w="15875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0A5A64"/>
                </a:solidFill>
                <a:latin typeface="Consolas"/>
              </a:rPr>
              <a:t>CollisionManager</a:t>
            </a:r>
          </a:p>
          <a:p>
            <a:r>
              <a:rPr sz="650" b="1">
                <a:solidFill>
                  <a:srgbClr val="0E7B88"/>
                </a:solidFill>
                <a:latin typeface="Meiryo"/>
              </a:rPr>
              <a:t>毎フレーム総当たり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RegisterCollider()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CheckAllCollisions()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- ShouldIgnoreCollision()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72200" y="1051560"/>
            <a:ext cx="320040" cy="0"/>
          </a:xfrm>
          <a:prstGeom prst="line">
            <a:avLst/>
          </a:prstGeom>
          <a:ln w="15875">
            <a:solidFill>
              <a:srgbClr val="0E7B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23000" y="886460"/>
            <a:ext cx="457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8A909C"/>
                </a:solidFill>
                <a:latin typeface="Meiryo"/>
              </a:rPr>
              <a:t>登録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8229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Shape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struct（5種を1つに）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kind : ShapeKind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sphere / aabb / obb / capsule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mesh : shared_ptr&lt;const MeshBVH&gt;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1051560"/>
            <a:ext cx="320040" cy="0"/>
          </a:xfrm>
          <a:prstGeom prst="line">
            <a:avLst/>
          </a:prstGeom>
          <a:ln w="15875">
            <a:solidFill>
              <a:srgbClr val="C6CBD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02560" y="886460"/>
            <a:ext cx="457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8A909C"/>
                </a:solidFill>
                <a:latin typeface="Meiryo"/>
              </a:rPr>
              <a:t>保持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169160"/>
            <a:ext cx="3840480" cy="1054100"/>
          </a:xfrm>
          <a:prstGeom prst="roundRect">
            <a:avLst>
              <a:gd name="adj" fmla="val 8000"/>
            </a:avLst>
          </a:prstGeom>
          <a:solidFill>
            <a:srgbClr val="D7ECEE"/>
          </a:solidFill>
          <a:ln w="15875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0A5A64"/>
                </a:solidFill>
                <a:latin typeface="Consolas"/>
              </a:rPr>
              <a:t>MultiCollider</a:t>
            </a:r>
          </a:p>
          <a:p>
            <a:r>
              <a:rPr sz="650" b="1">
                <a:solidFill>
                  <a:srgbClr val="0E7B88"/>
                </a:solidFill>
                <a:latin typeface="Meiryo"/>
              </a:rPr>
              <a:t>final：これ1つで全形状を扱う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AddSphere() / AddAABB() / AddOBB()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AddCapsule() / AddMesh(shared_ptr&lt;MeshBVH&gt;)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SetHitCallbackEx() / SetPushOutCallback()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- shapes_ : vector&lt;Shape&gt;  ← 1体に複数形状を持てる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2016760"/>
            <a:ext cx="0" cy="1524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3401060"/>
            <a:ext cx="1947672" cy="7747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Player / Enemy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球・カプセル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体＝Sphere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武器＝Capsule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51176" y="3401060"/>
            <a:ext cx="1947672" cy="7747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Sentinel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二層コライダー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押し戻し＝Sphere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被弾＝Sphere（弱点）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5152" y="3401060"/>
            <a:ext cx="1947672" cy="774700"/>
          </a:xfrm>
          <a:prstGeom prst="roundRect">
            <a:avLst>
              <a:gd name="adj" fmla="val 8000"/>
            </a:avLst>
          </a:prstGeom>
          <a:solidFill>
            <a:srgbClr val="F6EAD6"/>
          </a:solidFill>
          <a:ln w="15875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8A560F"/>
                </a:solidFill>
                <a:latin typeface="Consolas"/>
              </a:rPr>
              <a:t>SceneController</a:t>
            </a:r>
          </a:p>
          <a:p>
            <a:r>
              <a:rPr sz="650" b="1">
                <a:solidFill>
                  <a:srgbClr val="B9761A"/>
                </a:solidFill>
                <a:latin typeface="Meiryo"/>
              </a:rPr>
              <a:t>ステージ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BuildStageCollider()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AddMesh(BVH) / Movable=false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39128" y="3401060"/>
            <a:ext cx="1947672" cy="7747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PlayerBullet ほか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弾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Sphere＋PrevCenter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（CCD対象）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223260"/>
            <a:ext cx="0" cy="1143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31036" y="3337560"/>
            <a:ext cx="6281928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31036" y="33375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525012" y="33375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18988" y="33375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12964" y="33375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" y="4264660"/>
            <a:ext cx="114300" cy="114300"/>
          </a:xfrm>
          <a:prstGeom prst="roundRect">
            <a:avLst/>
          </a:prstGeom>
          <a:solidFill>
            <a:srgbClr val="E7E0F4"/>
          </a:solidFill>
          <a:ln w="12700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300" y="4251960"/>
            <a:ext cx="457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抽象基底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1900" y="4264660"/>
            <a:ext cx="114300" cy="114300"/>
          </a:xfrm>
          <a:prstGeom prst="roundRect">
            <a:avLst/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97000" y="425196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実装・実行側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7100" y="4264660"/>
            <a:ext cx="114300" cy="114300"/>
          </a:xfrm>
          <a:prstGeom prst="roundRect">
            <a:avLst/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62200" y="4251960"/>
            <a:ext cx="6553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BVH を持つ側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9920" y="4264660"/>
            <a:ext cx="114300" cy="11430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5020" y="4251960"/>
            <a:ext cx="361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使う側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80560"/>
            <a:ext cx="25400" cy="254000"/>
          </a:xfrm>
          <a:prstGeom prst="rect">
            <a:avLst/>
          </a:prstGeom>
          <a:solidFill>
            <a:srgbClr val="B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480560"/>
            <a:ext cx="8229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Collider の派生は MultiCollider だけ。形状を増やすのは継承ではなく Shape に足す方向で伸ばしている。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10896"/>
            <a:ext cx="88900" cy="88900"/>
          </a:xfrm>
          <a:prstGeom prst="ellipse">
            <a:avLst/>
          </a:prstGeom>
          <a:solidFill>
            <a:srgbClr val="6A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909C"/>
                </a:solidFill>
                <a:latin typeface="Meiryo"/>
              </a:rPr>
              <a:t>クラス図 ② ── 形状ディスパッチ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1E25"/>
                </a:solidFill>
                <a:latin typeface="Meiryo"/>
              </a:rPr>
              <a:t>Intersects(a, b) が 5×5 すべてを捌く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6548" y="822960"/>
            <a:ext cx="143957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565D6B"/>
                </a:solidFill>
                <a:latin typeface="Consolas"/>
              </a:rPr>
              <a:t>Sphere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4218" y="822960"/>
            <a:ext cx="143957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565D6B"/>
                </a:solidFill>
                <a:latin typeface="Consolas"/>
              </a:rPr>
              <a:t>AABB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1888" y="822960"/>
            <a:ext cx="143957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565D6B"/>
                </a:solidFill>
                <a:latin typeface="Consolas"/>
              </a:rPr>
              <a:t>OBB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9558" y="822960"/>
            <a:ext cx="143957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565D6B"/>
                </a:solidFill>
                <a:latin typeface="Consolas"/>
              </a:rPr>
              <a:t>Capsule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7228" y="822960"/>
            <a:ext cx="143957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8A560F"/>
                </a:solidFill>
                <a:latin typeface="Consolas"/>
              </a:rPr>
              <a:t>Mesh (BVH)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26160"/>
            <a:ext cx="841248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565D6B"/>
                </a:solidFill>
                <a:latin typeface="Consolas"/>
              </a:rPr>
              <a:t>Sphere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36548" y="10261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CheckSphereVsSphere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4218" y="10261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CheckSphereVsAABB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1888" y="10261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CheckSphereVsOBB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9558" y="10261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CheckSphereVsCapsule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47228" y="10261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8A560F"/>
                </a:solidFill>
                <a:latin typeface="Meiryo"/>
              </a:rPr>
              <a:t>◎ 押し出し可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BVH → SphereVsTriangle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546860"/>
            <a:ext cx="841248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565D6B"/>
                </a:solidFill>
                <a:latin typeface="Consolas"/>
              </a:rPr>
              <a:t>AABB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6548" y="15468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CheckSphereVsAABB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4218" y="15468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CheckAABBVsAABB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1888" y="15468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CheckAABBVsOBB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9558" y="15468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CheckAABBVsCapsule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7228" y="15468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8A560F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BVH → AABBVsTriangle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067560"/>
            <a:ext cx="841248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565D6B"/>
                </a:solidFill>
                <a:latin typeface="Consolas"/>
              </a:rPr>
              <a:t>OBB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36548" y="20675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CheckSphereVsOBB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14218" y="20675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CheckAABBVsOBB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1888" y="20675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CheckOBBVsOBB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9558" y="20675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CheckOBBVsCapsule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47228" y="20675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8A560F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BVH → OBBVsTriangle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588260"/>
            <a:ext cx="841248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565D6B"/>
                </a:solidFill>
                <a:latin typeface="Consolas"/>
              </a:rPr>
              <a:t>Capsule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6548" y="25882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CheckSphereVsCapsule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14218" y="25882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CheckAABBVsCapsule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1888" y="25882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CheckOBBVsCapsule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9558" y="25882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A5A64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CheckCapsuleVsCapsule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47228" y="25882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8A560F"/>
                </a:solidFill>
                <a:latin typeface="Meiryo"/>
              </a:rPr>
              <a:t>◎ 押し出し可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BVH → CapsuleVsTriangle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108960"/>
            <a:ext cx="841248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8A560F"/>
                </a:solidFill>
                <a:latin typeface="Consolas"/>
              </a:rPr>
              <a:t>Mesh (BVH)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36548" y="31089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8A560F"/>
                </a:solidFill>
                <a:latin typeface="Meiryo"/>
              </a:rPr>
              <a:t>◎ 押し出し可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BVH → SphereVsTriangle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14218" y="31089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8A560F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BVH → AABBVsTriangle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1888" y="31089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8A560F"/>
                </a:solidFill>
                <a:latin typeface="Meiryo"/>
              </a:rPr>
              <a:t>○ 検出のみ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BVH → OBBVsTriangle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9558" y="31089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8A560F"/>
                </a:solidFill>
                <a:latin typeface="Meiryo"/>
              </a:rPr>
              <a:t>◎ 押し出し可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Consolas"/>
              </a:rPr>
              <a:t>BVH → CapsuleVsTriangle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47228" y="3108960"/>
            <a:ext cx="1439570" cy="482600"/>
          </a:xfrm>
          <a:prstGeom prst="roundRect">
            <a:avLst>
              <a:gd name="adj" fmla="val 10000"/>
            </a:avLst>
          </a:prstGeom>
          <a:solidFill>
            <a:srgbClr val="F6F7FA"/>
          </a:solidFill>
          <a:ln w="12700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1B1E25"/>
                </a:solidFill>
                <a:latin typeface="Meiryo"/>
              </a:rPr>
              <a:t>非対応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718560"/>
            <a:ext cx="114300" cy="114300"/>
          </a:xfrm>
          <a:prstGeom prst="roundRect">
            <a:avLst/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" y="3705860"/>
            <a:ext cx="933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形状どうし（直接）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08150" y="3718560"/>
            <a:ext cx="114300" cy="114300"/>
          </a:xfrm>
          <a:prstGeom prst="roundRect">
            <a:avLst/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73250" y="3705860"/>
            <a:ext cx="142112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メッシュ経由（BVH → 三角形）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46779" y="3718560"/>
            <a:ext cx="114300" cy="11430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1879" y="3705860"/>
            <a:ext cx="361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非対応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934460"/>
            <a:ext cx="25400" cy="254000"/>
          </a:xfrm>
          <a:prstGeom prst="rect">
            <a:avLst/>
          </a:prstGeom>
          <a:solidFill>
            <a:srgbClr val="B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3934460"/>
            <a:ext cx="8229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表は対称：逆順で来ても引数を入れ替えて同じ関数へ渡す。◎ は法線と深さまで返すので押し戻しに使える。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10896"/>
            <a:ext cx="88900" cy="88900"/>
          </a:xfrm>
          <a:prstGeom prst="ellipse">
            <a:avLst/>
          </a:prstGeom>
          <a:solidFill>
            <a:srgbClr val="B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909C"/>
                </a:solidFill>
                <a:latin typeface="Meiryo"/>
              </a:rPr>
              <a:t>クラス図 ③ ── MESH BVH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1E25"/>
                </a:solidFill>
                <a:latin typeface="Meiryo"/>
              </a:rPr>
              <a:t>総当たり O(N) を、AABBの木で O(log N) に落とす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3931920" cy="1473200"/>
          </a:xfrm>
          <a:prstGeom prst="roundRect">
            <a:avLst>
              <a:gd name="adj" fmla="val 8000"/>
            </a:avLst>
          </a:prstGeom>
          <a:solidFill>
            <a:srgbClr val="F6EAD6"/>
          </a:solidFill>
          <a:ln w="15875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8A560F"/>
                </a:solidFill>
                <a:latin typeface="Consolas"/>
              </a:rPr>
              <a:t>MeshBVH</a:t>
            </a:r>
          </a:p>
          <a:p>
            <a:r>
              <a:rPr sz="650" b="1">
                <a:solidFill>
                  <a:srgbClr val="B9761A"/>
                </a:solidFill>
                <a:latin typeface="Meiryo"/>
              </a:rPr>
              <a:t>静的ジオメトリ用・構築は1回だけ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Build(vector&lt;Triangle&gt;)  ← ワールド空間へ焼き込み済み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QueryOverlap(AABB, cb) : bool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Empty() / TriangleCount() / RootBounds()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- BuildRecursive(start, count) : int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- triangles_ : vector&lt;Triangle&gt;  ← 葉の順に並べ替え済み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- nodes_ : vector&lt;Node&gt;  ← indexで木を持つ（DFS順）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- kLeafSize =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485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MeshBVH::Node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struct（内部ノードと葉を1つで兼ねる）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bounds : AABB   ← このノードが包む範囲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left / right : int   ← 内部ノード（子のindex）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start / count : int  ← 葉（count&gt;0 が葉の印）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1200" y="2296160"/>
            <a:ext cx="0" cy="1524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63440" y="797560"/>
            <a:ext cx="402336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A560F"/>
                </a:solidFill>
                <a:latin typeface="Meiryo"/>
              </a:rPr>
              <a:t>構築：最長軸の重心で median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000760"/>
            <a:ext cx="1371600" cy="330200"/>
          </a:xfrm>
          <a:prstGeom prst="roundRect">
            <a:avLst>
              <a:gd name="adj" fmla="val 14000"/>
            </a:avLst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1">
                <a:solidFill>
                  <a:srgbClr val="8A560F"/>
                </a:solidFill>
                <a:latin typeface="Consolas"/>
              </a:rPr>
              <a:t>root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Meiryo"/>
              </a:rPr>
              <a:t>全体のAABB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534160"/>
            <a:ext cx="1554480" cy="330200"/>
          </a:xfrm>
          <a:prstGeom prst="roundRect">
            <a:avLst>
              <a:gd name="adj" fmla="val 14000"/>
            </a:avLst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1">
                <a:solidFill>
                  <a:srgbClr val="8A560F"/>
                </a:solidFill>
                <a:latin typeface="Consolas"/>
              </a:rPr>
              <a:t>inner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Meiryo"/>
              </a:rPr>
              <a:t>左右のAABB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534160"/>
            <a:ext cx="1554480" cy="330200"/>
          </a:xfrm>
          <a:prstGeom prst="roundRect">
            <a:avLst>
              <a:gd name="adj" fmla="val 14000"/>
            </a:avLst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1">
                <a:solidFill>
                  <a:srgbClr val="8A560F"/>
                </a:solidFill>
                <a:latin typeface="Consolas"/>
              </a:rPr>
              <a:t>inner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Meiryo"/>
              </a:rPr>
              <a:t>左右のAABB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0" y="1330960"/>
            <a:ext cx="0" cy="1143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20" y="1445260"/>
            <a:ext cx="2286000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32120" y="1445260"/>
            <a:ext cx="0" cy="889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18120" y="1445260"/>
            <a:ext cx="0" cy="889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09160" y="2067560"/>
            <a:ext cx="868680" cy="330200"/>
          </a:xfrm>
          <a:prstGeom prst="roundRect">
            <a:avLst>
              <a:gd name="adj" fmla="val 14000"/>
            </a:avLst>
          </a:prstGeom>
          <a:solidFill>
            <a:srgbClr val="F6F7FA"/>
          </a:solidFill>
          <a:ln w="12700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1">
                <a:solidFill>
                  <a:srgbClr val="1B1E25"/>
                </a:solidFill>
                <a:latin typeface="Consolas"/>
              </a:rPr>
              <a:t>leaf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Meiryo"/>
              </a:rPr>
              <a:t>三角形 ≤4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42432" y="2067560"/>
            <a:ext cx="868680" cy="330200"/>
          </a:xfrm>
          <a:prstGeom prst="roundRect">
            <a:avLst>
              <a:gd name="adj" fmla="val 14000"/>
            </a:avLst>
          </a:prstGeom>
          <a:solidFill>
            <a:srgbClr val="F6F7FA"/>
          </a:solidFill>
          <a:ln w="12700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1">
                <a:solidFill>
                  <a:srgbClr val="1B1E25"/>
                </a:solidFill>
                <a:latin typeface="Consolas"/>
              </a:rPr>
              <a:t>leaf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Meiryo"/>
              </a:rPr>
              <a:t>三角形 ≤4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75704" y="2067560"/>
            <a:ext cx="868680" cy="330200"/>
          </a:xfrm>
          <a:prstGeom prst="roundRect">
            <a:avLst>
              <a:gd name="adj" fmla="val 14000"/>
            </a:avLst>
          </a:prstGeom>
          <a:solidFill>
            <a:srgbClr val="F6F7FA"/>
          </a:solidFill>
          <a:ln w="12700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1">
                <a:solidFill>
                  <a:srgbClr val="1B1E25"/>
                </a:solidFill>
                <a:latin typeface="Consolas"/>
              </a:rPr>
              <a:t>leaf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Meiryo"/>
              </a:rPr>
              <a:t>三角形 ≤4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8976" y="2067560"/>
            <a:ext cx="868680" cy="330200"/>
          </a:xfrm>
          <a:prstGeom prst="roundRect">
            <a:avLst>
              <a:gd name="adj" fmla="val 14000"/>
            </a:avLst>
          </a:prstGeom>
          <a:solidFill>
            <a:srgbClr val="F6F7FA"/>
          </a:solidFill>
          <a:ln w="12700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1">
                <a:solidFill>
                  <a:srgbClr val="1B1E25"/>
                </a:solidFill>
                <a:latin typeface="Consolas"/>
              </a:rPr>
              <a:t>leaf</a:t>
            </a:r>
          </a:p>
          <a:p>
            <a:pPr algn="ctr"/>
            <a:r>
              <a:rPr sz="600">
                <a:solidFill>
                  <a:srgbClr val="565D6B"/>
                </a:solidFill>
                <a:latin typeface="Meiryo"/>
              </a:rPr>
              <a:t>三角形 ≤4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32120" y="1864360"/>
            <a:ext cx="0" cy="1143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1978660"/>
            <a:ext cx="1033272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43500" y="1978660"/>
            <a:ext cx="0" cy="889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76772" y="1978660"/>
            <a:ext cx="0" cy="889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18120" y="1864360"/>
            <a:ext cx="0" cy="1143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10044" y="1978660"/>
            <a:ext cx="1033272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10044" y="1978660"/>
            <a:ext cx="0" cy="889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43316" y="1978660"/>
            <a:ext cx="0" cy="889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63440" y="2499360"/>
            <a:ext cx="402336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5D6B"/>
                </a:solidFill>
                <a:latin typeface="Meiryo"/>
              </a:rPr>
              <a:t>問い合わせ：相手形状のワールドAABBを作り、明示スタックで木を降りる。</a:t>
            </a:r>
          </a:p>
          <a:p>
            <a:pPr algn="l"/>
            <a:r>
              <a:rPr sz="750" b="0">
                <a:solidFill>
                  <a:srgbClr val="565D6B"/>
                </a:solidFill>
                <a:latin typeface="Meiryo"/>
              </a:rPr>
              <a:t>AABBが重ならない枝は丸ごと捨てる → 葉に着いた三角形だけ精密判定。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451860"/>
            <a:ext cx="114300" cy="114300"/>
          </a:xfrm>
          <a:prstGeom prst="roundRect">
            <a:avLst/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300" y="3439160"/>
            <a:ext cx="4648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BVH 本体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9520" y="3451860"/>
            <a:ext cx="114300" cy="11430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04620" y="3439160"/>
            <a:ext cx="60579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葉 / ノード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67760"/>
            <a:ext cx="25400" cy="254000"/>
          </a:xfrm>
          <a:prstGeom prst="rect">
            <a:avLst/>
          </a:prstGeom>
          <a:solidFill>
            <a:srgbClr val="B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667760"/>
            <a:ext cx="8229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検出だけなら cb が true を返した時点で打ち切れる。押し出しは最深の三角形が要るので全候補を見る。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10896"/>
            <a:ext cx="88900" cy="88900"/>
          </a:xfrm>
          <a:prstGeom prst="ellipse">
            <a:avLst/>
          </a:prstGeom>
          <a:solidFill>
            <a:srgbClr val="0E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909C"/>
                </a:solidFill>
                <a:latin typeface="Meiryo"/>
              </a:rPr>
              <a:t>処理の流れ ── CheckAllCollisions()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1E25"/>
                </a:solidFill>
                <a:latin typeface="Meiryo"/>
              </a:rPr>
              <a:t>足切り → すり抜け補正 → 判定 → 押し戻し → 通知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73760"/>
            <a:ext cx="2609088" cy="9144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① ブロードフェーズ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ShouldIgnoreCollision()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TypeID をグループへ写して足切り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World（ステージ）は Object と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だけ当てる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67456" y="873760"/>
            <a:ext cx="2609088" cy="914400"/>
          </a:xfrm>
          <a:prstGeom prst="roundRect">
            <a:avLst>
              <a:gd name="adj" fmla="val 8000"/>
            </a:avLst>
          </a:prstGeom>
          <a:solidFill>
            <a:srgbClr val="F6EAD6"/>
          </a:solidFill>
          <a:ln w="15875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8A560F"/>
                </a:solidFill>
                <a:latin typeface="Consolas"/>
              </a:rPr>
              <a:t>② CCD（すり抜け補正）</a:t>
            </a:r>
          </a:p>
          <a:p>
            <a:r>
              <a:rPr sz="650" b="1">
                <a:solidFill>
                  <a:srgbClr val="B9761A"/>
                </a:solidFill>
                <a:latin typeface="Meiryo"/>
              </a:rPr>
              <a:t>SweepSphereVsMesh()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Blocking 同士のみ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前位置→現位置を半径の半分ずつ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刻んで最初の接触へ引き戻す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77712" y="873760"/>
            <a:ext cx="2609088" cy="914400"/>
          </a:xfrm>
          <a:prstGeom prst="roundRect">
            <a:avLst>
              <a:gd name="adj" fmla="val 8000"/>
            </a:avLst>
          </a:prstGeom>
          <a:solidFill>
            <a:srgbClr val="D7ECEE"/>
          </a:solidFill>
          <a:ln w="15875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0A5A64"/>
                </a:solidFill>
                <a:latin typeface="Consolas"/>
              </a:rPr>
              <a:t>③ ナローフェーズ</a:t>
            </a:r>
          </a:p>
          <a:p>
            <a:r>
              <a:rPr sz="650" b="1">
                <a:solidFill>
                  <a:srgbClr val="0E7B88"/>
                </a:solidFill>
                <a:latin typeface="Meiryo"/>
              </a:rPr>
              <a:t>Intersects(a, b [, Contact])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形状リストの総当たり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Mesh が居れば BVH で候補を絞る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Blocking 同士は最深接触を採る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82256" y="1788160"/>
            <a:ext cx="0" cy="1270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61744" y="1915160"/>
            <a:ext cx="5620512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1744" y="1915160"/>
            <a:ext cx="0" cy="1270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2042160"/>
            <a:ext cx="2609088" cy="914400"/>
          </a:xfrm>
          <a:prstGeom prst="roundRect">
            <a:avLst>
              <a:gd name="adj" fmla="val 8000"/>
            </a:avLst>
          </a:prstGeom>
          <a:solidFill>
            <a:srgbClr val="D7ECEE"/>
          </a:solidFill>
          <a:ln w="15875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0A5A64"/>
                </a:solidFill>
                <a:latin typeface="Consolas"/>
              </a:rPr>
              <a:t>④ 押し戻し（MTV）</a:t>
            </a:r>
          </a:p>
          <a:p>
            <a:r>
              <a:rPr sz="650" b="1">
                <a:solidFill>
                  <a:srgbClr val="0E7B88"/>
                </a:solidFill>
                <a:latin typeface="Meiryo"/>
              </a:rPr>
              <a:t>ApplyPushOut(normal * depth)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Blocking×Blocking のみ・毎フレーム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両方 movable → 半分ずつ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片方が静的 → 動ける側が全部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7456" y="2042160"/>
            <a:ext cx="2609088" cy="9144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⑤ 多段ヒット抑止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Enter + StayCooldown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新規接触は必ず1回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継続はペア登録した秒数ごと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（例：武器×敵 = 1.2秒）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7712" y="2042160"/>
            <a:ext cx="2609088" cy="9144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⑥ 通知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OnCollision(CollisionInfo&amp;)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self / other / 種別ID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法線・深さも渡す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最後に登録を全消し（毎フレーム制）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66288" y="2499360"/>
            <a:ext cx="201168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76544" y="2499360"/>
            <a:ext cx="201168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66288" y="1330960"/>
            <a:ext cx="201168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876544" y="1330960"/>
            <a:ext cx="201168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3045460"/>
            <a:ext cx="114300" cy="114300"/>
          </a:xfrm>
          <a:prstGeom prst="roundRect">
            <a:avLst/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300" y="3032760"/>
            <a:ext cx="75057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BVH が効く工程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25270" y="3045460"/>
            <a:ext cx="114300" cy="114300"/>
          </a:xfrm>
          <a:prstGeom prst="roundRect">
            <a:avLst/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0370" y="3032760"/>
            <a:ext cx="79628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形状判定 / 応答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39059" y="3045460"/>
            <a:ext cx="114300" cy="11430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4159" y="3032760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61360"/>
            <a:ext cx="25400" cy="254000"/>
          </a:xfrm>
          <a:prstGeom prst="rect">
            <a:avLst/>
          </a:prstGeom>
          <a:solidFill>
            <a:srgbClr val="B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261360"/>
            <a:ext cx="8229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押し戻しだけは多段ヒット抑止をかけない。重なっている限り毎フレーム解消しないと、めり込んだまま止まるため。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