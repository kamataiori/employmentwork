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09C"/>
                </a:solidFill>
                <a:latin typeface="Consolas"/>
              </a:rPr>
              <a:t>JuegoEngine / Class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B1E25"/>
                </a:solidFill>
                <a:latin typeface="Meiryo"/>
              </a:rPr>
              <a:t>クラス構成</a:t>
            </a:r>
          </a:p>
          <a:p>
            <a:pPr algn="l"/>
            <a:r>
              <a:rPr sz="4000" b="1">
                <a:solidFill>
                  <a:srgbClr val="1B1E25"/>
                </a:solidFill>
                <a:latin typeface="Meiryo"/>
              </a:rPr>
              <a:t>BT・Player・Weapon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65D6B"/>
                </a:solidFill>
                <a:latin typeface="Meiryo"/>
              </a:rPr>
              <a:t>それぞれ「抽象で受けて、具象を足すだけで増やせる」形に揃えている。</a:t>
            </a:r>
          </a:p>
          <a:p>
            <a:pPr algn="l"/>
            <a:r>
              <a:rPr sz="1200" b="0">
                <a:solidFill>
                  <a:srgbClr val="565D6B"/>
                </a:solidFill>
                <a:latin typeface="Meiryo"/>
              </a:rPr>
              <a:t>3つの図はどれも同じ考え方の別の現れ方。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114300" cy="114300"/>
          </a:xfrm>
          <a:prstGeom prst="roundRect">
            <a:avLst/>
          </a:prstGeom>
          <a:solidFill>
            <a:srgbClr val="E7E0F4"/>
          </a:solidFill>
          <a:ln w="1270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300" y="4102100"/>
            <a:ext cx="136778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インターフェイス / 抽象基底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2489" y="4114800"/>
            <a:ext cx="114300" cy="114300"/>
          </a:xfrm>
          <a:prstGeom prst="roundRect">
            <a:avLst/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7589" y="4102100"/>
            <a:ext cx="55625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BT側の具象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6248" y="4114800"/>
            <a:ext cx="114300" cy="114300"/>
          </a:xfrm>
          <a:prstGeom prst="roundRect">
            <a:avLst/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1348" y="41021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実行側の具象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10896"/>
            <a:ext cx="88900" cy="88900"/>
          </a:xfrm>
          <a:prstGeom prst="ellipse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909C"/>
                </a:solidFill>
                <a:latin typeface="Meiryo"/>
              </a:rPr>
              <a:t>クラス図 ① ── BEHAVIOR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1E25"/>
                </a:solidFill>
                <a:latin typeface="Meiryo"/>
              </a:rPr>
              <a:t>1つの基底に、ノードの種類をぶら下げる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822960"/>
            <a:ext cx="2651760" cy="7747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INode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interface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execute() / get_node_result() / Reset()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# init / tick / finalize()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750060"/>
            <a:ext cx="2651760" cy="7747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NodeBase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abstract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# mNodeResult : NodeResult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# mpBlackBoard : BlackBoard*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5976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750060"/>
            <a:ext cx="1783080" cy="6604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BlackBoard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set_value&lt;T&gt;()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try_get_value&lt;T&gt;()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1953260"/>
            <a:ext cx="411480" cy="0"/>
          </a:xfrm>
          <a:prstGeom prst="line">
            <a:avLst/>
          </a:prstGeom>
          <a:ln w="15875">
            <a:solidFill>
              <a:srgbClr val="6A4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8680" y="1788160"/>
            <a:ext cx="36576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8A909C"/>
                </a:solidFill>
                <a:latin typeface="Meiryo"/>
              </a:rPr>
              <a:t>参照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2560"/>
            <a:ext cx="1847088" cy="7747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CompositeNodeBase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子を複数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add_node()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# get_next_index()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2702560"/>
            <a:ext cx="1847088" cy="6350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DecoratorNodeBase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子を1つ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set_node()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2702560"/>
            <a:ext cx="1847088" cy="6350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BranchNodeBase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子を2つ（真/偽）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# is_condition()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2702560"/>
            <a:ext cx="1847088" cy="6350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LeafNodeBase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子なし・末端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条件葉 / 行動葉の親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2524760"/>
            <a:ext cx="0" cy="1143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80744" y="2639060"/>
            <a:ext cx="5980176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80744" y="26390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74136" y="26390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67528" y="26390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26390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3629660"/>
            <a:ext cx="1847088" cy="635000"/>
          </a:xfrm>
          <a:prstGeom prst="roundRect">
            <a:avLst>
              <a:gd name="adj" fmla="val 8000"/>
            </a:avLst>
          </a:prstGeom>
          <a:solidFill>
            <a:srgbClr val="F6EAD6"/>
          </a:solidFill>
          <a:ln w="15875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8A560F"/>
                </a:solidFill>
                <a:latin typeface="Consolas"/>
              </a:rPr>
              <a:t>SelectorNode</a:t>
            </a:r>
          </a:p>
          <a:p>
            <a:r>
              <a:rPr sz="650" b="1">
                <a:solidFill>
                  <a:srgbClr val="B9761A"/>
                </a:solidFill>
                <a:latin typeface="Meiryo"/>
              </a:rPr>
              <a:t>具象（+ RandomSelectorNode）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SequenceNode も同列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80744" y="34772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450592" y="3629660"/>
            <a:ext cx="1847088" cy="635000"/>
          </a:xfrm>
          <a:prstGeom prst="roundRect">
            <a:avLst>
              <a:gd name="adj" fmla="val 8000"/>
            </a:avLst>
          </a:prstGeom>
          <a:solidFill>
            <a:srgbClr val="F6EAD6"/>
          </a:solidFill>
          <a:ln w="15875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8A560F"/>
                </a:solidFill>
                <a:latin typeface="Consolas"/>
              </a:rPr>
              <a:t>InverterDecorator</a:t>
            </a:r>
          </a:p>
          <a:p>
            <a:r>
              <a:rPr sz="650" b="1">
                <a:solidFill>
                  <a:srgbClr val="B9761A"/>
                </a:solidFill>
                <a:latin typeface="Meiryo"/>
              </a:rPr>
              <a:t>具象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結果を反転する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74136" y="34772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37376" y="3629660"/>
            <a:ext cx="1847088" cy="6350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ExecuteStateLeaf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橋渡し → 実行層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State を生成し完了を監視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60920" y="34772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4353560"/>
            <a:ext cx="114300" cy="114300"/>
          </a:xfrm>
          <a:prstGeom prst="roundRect">
            <a:avLst/>
          </a:prstGeom>
          <a:solidFill>
            <a:srgbClr val="E7E0F4"/>
          </a:solidFill>
          <a:ln w="1270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300" y="4340860"/>
            <a:ext cx="89154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抽象 / 共有データ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66240" y="4353560"/>
            <a:ext cx="114300" cy="11430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31340" y="4340860"/>
            <a:ext cx="742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種類ごとの基底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26690" y="4353560"/>
            <a:ext cx="114300" cy="114300"/>
          </a:xfrm>
          <a:prstGeom prst="roundRect">
            <a:avLst/>
          </a:prstGeom>
          <a:solidFill>
            <a:srgbClr val="F6EAD6"/>
          </a:solidFill>
          <a:ln w="12700">
            <a:solidFill>
              <a:srgbClr val="B9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91790" y="4340860"/>
            <a:ext cx="552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具象ノード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69460"/>
            <a:ext cx="25400" cy="254000"/>
          </a:xfrm>
          <a:prstGeom prst="rect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569460"/>
            <a:ext cx="822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葉は全て載せていない（条件葉・行動葉は十数種類ある）。図は骨格のみ。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10896"/>
            <a:ext cx="88900" cy="88900"/>
          </a:xfrm>
          <a:prstGeom prst="ellipse">
            <a:avLst/>
          </a:prstGeom>
          <a:solidFill>
            <a:srgbClr val="0E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909C"/>
                </a:solidFill>
                <a:latin typeface="Meiryo"/>
              </a:rPr>
              <a:t>クラス図 ② ── PLAYER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1E25"/>
                </a:solidFill>
                <a:latin typeface="Meiryo"/>
              </a:rPr>
              <a:t>Player は束ねる側。仕事は部品へ渡す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822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ObjectBase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abstract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Update() / Draw()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# transform / object3d_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# multiCollider_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89760"/>
            <a:ext cx="3017520" cy="11938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Player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束ねる側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GetHp() / ApplyDamage() / IsDead()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SetInputLocked() / SetInvincible()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RequestAnimaKey()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GetWeapon() : PlayerIWeapon*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GetWeaponCollider() : ヒット区間のみ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7373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261360"/>
            <a:ext cx="1847088" cy="7747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PlayerMover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移動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Update(inputLocked)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Move/Jump/Blink()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3261360"/>
            <a:ext cx="1847088" cy="7747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PlayerIWeapon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interface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NormalAttack()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Skill/Skill2/Ultimate()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3261360"/>
            <a:ext cx="1847088" cy="7747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Sword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剣の実体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AttachTo(joint)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SetHitEnabled()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7376" y="3261360"/>
            <a:ext cx="1847088" cy="635000"/>
          </a:xfrm>
          <a:prstGeom prst="roundRect">
            <a:avLst>
              <a:gd name="adj" fmla="val 8000"/>
            </a:avLst>
          </a:prstGeom>
          <a:solidFill>
            <a:srgbClr val="F6F7FA"/>
          </a:solidFill>
          <a:ln w="15875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1B1E25"/>
                </a:solidFill>
                <a:latin typeface="Consolas"/>
              </a:rPr>
              <a:t>ParticleManager</a:t>
            </a:r>
          </a:p>
          <a:p>
            <a:r>
              <a:rPr sz="650" b="1">
                <a:solidFill>
                  <a:srgbClr val="8A909C"/>
                </a:solidFill>
                <a:latin typeface="Meiryo"/>
              </a:rPr>
              <a:t>剣オーラ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持続エミッタを1つ保持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3083560"/>
            <a:ext cx="0" cy="1143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80744" y="3197860"/>
            <a:ext cx="5980176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80744" y="31978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74136" y="31978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67528" y="31978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60920" y="3197860"/>
            <a:ext cx="0" cy="635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4124960"/>
            <a:ext cx="114300" cy="114300"/>
          </a:xfrm>
          <a:prstGeom prst="roundRect">
            <a:avLst/>
          </a:prstGeom>
          <a:solidFill>
            <a:srgbClr val="E7E0F4"/>
          </a:solidFill>
          <a:ln w="1270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00" y="4112260"/>
            <a:ext cx="117729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抽象 / インターフェイス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1990" y="4124960"/>
            <a:ext cx="114300" cy="114300"/>
          </a:xfrm>
          <a:prstGeom prst="roundRect">
            <a:avLst/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17090" y="411226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本体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36190" y="4124960"/>
            <a:ext cx="114300" cy="11430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C6C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1290" y="4112260"/>
            <a:ext cx="13334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所有する部品（unique_ptr）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40860"/>
            <a:ext cx="25400" cy="254000"/>
          </a:xfrm>
          <a:prstGeom prst="rect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340860"/>
            <a:ext cx="822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Player 自身は HP・生死・入力ロックしか持たない。動きも攻撃も部品側にある。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10896"/>
            <a:ext cx="88900" cy="88900"/>
          </a:xfrm>
          <a:prstGeom prst="ellipse">
            <a:avLst/>
          </a:prstGeom>
          <a:solidFill>
            <a:srgbClr val="6A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909C"/>
                </a:solidFill>
                <a:latin typeface="Meiryo"/>
              </a:rPr>
              <a:t>クラス図 ③ ── WEAPON /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1E25"/>
                </a:solidFill>
                <a:latin typeface="Meiryo"/>
              </a:rPr>
              <a:t>スキルは1つ足すだけで増える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822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PlayerIWeapon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interface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NormalAttack()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Skill() / Skill2() / Ultimate()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SetEnemyTargetProvider()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8897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PlayerWeapon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入力 → スキルの司令塔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StartAttack(index) : 3段コンボ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- IsAnySkillActive() : 多重発動を防ぐ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GetESkillCharges() ほか残数 / - sword_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1737360"/>
            <a:ext cx="0" cy="1524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1889760"/>
            <a:ext cx="2103120" cy="7747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IEnemyTargetProvider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interface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CollectAliveTargets()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AllowsDashSkills()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118360"/>
            <a:ext cx="457200" cy="0"/>
          </a:xfrm>
          <a:prstGeom prst="line">
            <a:avLst/>
          </a:prstGeom>
          <a:ln w="15875">
            <a:solidFill>
              <a:srgbClr val="6A4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05680" y="1953260"/>
            <a:ext cx="36576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8A909C"/>
                </a:solidFill>
                <a:latin typeface="Meiryo"/>
              </a:rPr>
              <a:t>参照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2981960"/>
            <a:ext cx="2286000" cy="774700"/>
          </a:xfrm>
          <a:prstGeom prst="roundRect">
            <a:avLst>
              <a:gd name="adj" fmla="val 8000"/>
            </a:avLst>
          </a:prstGeom>
          <a:solidFill>
            <a:srgbClr val="E7E0F4"/>
          </a:solidFill>
          <a:ln w="15875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513B82"/>
                </a:solidFill>
                <a:latin typeface="Consolas"/>
              </a:rPr>
              <a:t>IPlayerSkill</a:t>
            </a:r>
          </a:p>
          <a:p>
            <a:r>
              <a:rPr sz="650" b="1">
                <a:solidFill>
                  <a:srgbClr val="6A4CA8"/>
                </a:solidFill>
                <a:latin typeface="Meiryo"/>
              </a:rPr>
              <a:t>interface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Start() / Update(dt)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+ IsActive() / Draw()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2804160"/>
            <a:ext cx="0" cy="1778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909060"/>
            <a:ext cx="1965960" cy="6350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SpinSlashSkill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E — 回転斬り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その場で振る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87752" y="3909060"/>
            <a:ext cx="1965960" cy="6350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RushSlashSkill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V — 突進乱舞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対象へ飛び込む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8304" y="3909060"/>
            <a:ext cx="1965960" cy="635000"/>
          </a:xfrm>
          <a:prstGeom prst="roundRect">
            <a:avLst>
              <a:gd name="adj" fmla="val 8000"/>
            </a:avLst>
          </a:prstGeom>
          <a:solidFill>
            <a:srgbClr val="D7ECEE"/>
          </a:solidFill>
          <a:ln w="15875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ctr"/>
            <a:r>
              <a:rPr sz="1000" b="1">
                <a:solidFill>
                  <a:srgbClr val="0A5A64"/>
                </a:solidFill>
                <a:latin typeface="Consolas"/>
              </a:rPr>
              <a:t>UltimateSkill</a:t>
            </a:r>
          </a:p>
          <a:p>
            <a:r>
              <a:rPr sz="650" b="1">
                <a:solidFill>
                  <a:srgbClr val="0E7B88"/>
                </a:solidFill>
                <a:latin typeface="Meiryo"/>
              </a:rPr>
              <a:t>Q — 斬奪</a:t>
            </a:r>
          </a:p>
          <a:p>
            <a:r>
              <a:rPr sz="750">
                <a:solidFill>
                  <a:srgbClr val="565D6B"/>
                </a:solidFill>
                <a:latin typeface="Consolas"/>
              </a:rPr>
              <a:t>スロー＋線合わせ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3756660"/>
            <a:ext cx="0" cy="1143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40180" y="3870960"/>
            <a:ext cx="4261104" cy="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40180" y="3870960"/>
            <a:ext cx="0" cy="381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70732" y="3870960"/>
            <a:ext cx="0" cy="381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01284" y="3870960"/>
            <a:ext cx="0" cy="38100"/>
          </a:xfrm>
          <a:prstGeom prst="line">
            <a:avLst/>
          </a:prstGeom>
          <a:ln w="15875">
            <a:solidFill>
              <a:srgbClr val="C6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4632960"/>
            <a:ext cx="114300" cy="114300"/>
          </a:xfrm>
          <a:prstGeom prst="roundRect">
            <a:avLst/>
          </a:prstGeom>
          <a:solidFill>
            <a:srgbClr val="E7E0F4"/>
          </a:solidFill>
          <a:ln w="1270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300" y="4620260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インターフェイス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12900" y="4632960"/>
            <a:ext cx="114300" cy="114300"/>
          </a:xfrm>
          <a:prstGeom prst="roundRect">
            <a:avLst/>
          </a:prstGeom>
          <a:solidFill>
            <a:srgbClr val="D7ECEE"/>
          </a:solidFill>
          <a:ln w="12700">
            <a:solidFill>
              <a:srgbClr val="0E7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78000" y="462026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具象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48860"/>
            <a:ext cx="25400" cy="254000"/>
          </a:xfrm>
          <a:prstGeom prst="rect">
            <a:avLst/>
          </a:prstGeom>
          <a:solidFill>
            <a:srgbClr val="B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848860"/>
            <a:ext cx="8229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A909C"/>
                </a:solidFill>
                <a:latin typeface="Meiryo"/>
              </a:rPr>
              <a:t>PlayerWeapon は3つのスキルをすべて IPlayerSkill として持つ。中身を知らない。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